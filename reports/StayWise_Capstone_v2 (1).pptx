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64592"/>
            <a:ext cx="8741664" cy="4800600"/>
          </a:xfrm>
          <a:prstGeom prst="rect">
            <a:avLst/>
          </a:prstGeom>
          <a:solidFill>
            <a:srgbClr val="111111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pPr algn="ctr"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Analytics for Revenue &amp; Cancellation Optimization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0" y="1591056"/>
            <a:ext cx="4572000" cy="347472"/>
          </a:xfrm>
          <a:prstGeom prst="rect">
            <a:avLst/>
          </a:prstGeom>
          <a:solidFill>
            <a:srgbClr val="0A0A0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5910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/ TRAVEL</a:t>
            </a:r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85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B, GROUP G-1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8321040" cy="1298448"/>
          </a:xfrm>
          <a:prstGeom prst="rect">
            <a:avLst/>
          </a:prstGeom>
          <a:solidFill>
            <a:srgbClr val="181818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👥  </a:t>
            </a:r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TEAM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441448"/>
            <a:ext cx="1965960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41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Mishra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(Project Lead)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51176" y="2441448"/>
            <a:ext cx="1965960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2441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 Raghuwanshi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(Data Lead)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2441448"/>
            <a:ext cx="1965960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2441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Musthyala Sadhvik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(ETL Lead)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02552" y="2441448"/>
            <a:ext cx="1965960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441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Dev Sahu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(Analysis Lead)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9828" y="2834640"/>
            <a:ext cx="2395728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988" y="28346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Soumen Dass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(Visualization Lead)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33572" y="2834640"/>
            <a:ext cx="2395728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0732" y="28346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Mishra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(Strategy Lead)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57316" y="2834640"/>
            <a:ext cx="2395728" cy="329184"/>
          </a:xfrm>
          <a:prstGeom prst="rect">
            <a:avLst/>
          </a:prstGeom>
          <a:solidFill>
            <a:srgbClr val="181818"/>
          </a:solidFill>
          <a:ln w="889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4476" y="28346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Yadav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(PPT &amp; Quality Lead)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291840"/>
            <a:ext cx="4041648" cy="1051560"/>
          </a:xfrm>
          <a:prstGeom prst="rect">
            <a:avLst/>
          </a:prstGeom>
          <a:solidFill>
            <a:srgbClr val="181818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300984"/>
            <a:ext cx="50292" cy="10332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&amp; Pipeline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675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github.com/ganga-300/SectionB_G-1_StayWise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3291840"/>
            <a:ext cx="4041648" cy="1051560"/>
          </a:xfrm>
          <a:prstGeom prst="rect">
            <a:avLst/>
          </a:prstGeom>
          <a:solidFill>
            <a:srgbClr val="181818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3300984"/>
            <a:ext cx="50292" cy="10332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   .../profile/soumen.dass/viz/StayWise-new1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73752" y="3895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 .../profile/soumen.dass/viz/StayWise-new2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 CAPSTONE PROJECT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HOTEL CANCELLATIONS ARE A REVENUE CRISIS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4133088" cy="208483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20665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hospitality industry loses significant revenue to booking cancellations, exacerbated by frictionless cancellation policies offered by Online Travel Agencies (OTAs). This disrupts staffing, pricing, and RevPAR targets.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" y="2304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DECISION-MAKERS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" y="25237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General Managers  ·  Revenue Managers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4133088" cy="208483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88136"/>
            <a:ext cx="50292" cy="206654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8032" y="1371600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primary behavioral and transactional drivers of hotel cancellations, and how can policies be optimized to mitigate this risk?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2084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2304288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booking profiles to deploy targeted deposit policies, direct-channel incentives, and dynamic pricing to maximize net revenue.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310128"/>
            <a:ext cx="2596896" cy="148132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01568"/>
            <a:ext cx="2596896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7472" y="4139672"/>
            <a:ext cx="2596896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63824" y="3310128"/>
            <a:ext cx="2596896" cy="148132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3401568"/>
            <a:ext cx="2596896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63824" y="4139672"/>
            <a:ext cx="2596896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Hotel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0176" y="3310128"/>
            <a:ext cx="2596896" cy="148132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3401568"/>
            <a:ext cx="2596896" cy="77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980176" y="4139672"/>
            <a:ext cx="2596896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Engineering: Source to Pipeline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 — KAGGLE HOTEL BOOKING DATASET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2468880" cy="146304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14447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SOURCE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13716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Hotel Booking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8653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2015 – August 2017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103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119,209 rows  ·  49 columns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71216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74720" y="1078992"/>
            <a:ext cx="2468880" cy="146304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88136"/>
            <a:ext cx="50292" cy="144475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13716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Feature-Rich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Dataset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8653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1031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87,219 rows  ·  29 columns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78992"/>
            <a:ext cx="2852928" cy="1463040"/>
          </a:xfrm>
          <a:prstGeom prst="rect">
            <a:avLst/>
          </a:prstGeom>
          <a:solidFill>
            <a:srgbClr val="181818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91072" y="137160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`is_canceled`  — Target flag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91072" y="160477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`lead_time`  — Days before arrival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91072" y="1837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`ADR`  — Average Daily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91072" y="20711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`market_segment`  — Channel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91072" y="23042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`deposit_type`  — Risk lever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27066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  ·  scripts/etl_pipeline.py  ·  notebooks/02_cleaning.ipynb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2926080"/>
            <a:ext cx="2724912" cy="178308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" y="3044952"/>
            <a:ext cx="402336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" y="3493008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`company` column (heavily null). Imputed missing values for `country`, `agent`, and `children`.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18688" y="2926080"/>
            <a:ext cx="2724912" cy="178308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044952"/>
            <a:ext cx="402336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77056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83280" y="3493008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ADR at €5,000 to eliminate erroneous billing entries skewing revenue analysis.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9904" y="2926080"/>
            <a:ext cx="2724912" cy="178308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3044952"/>
            <a:ext cx="402336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54496" y="3493008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`total_nights`, `total_revenue`, `clv_proxy`, `is_peak_season` for richer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Metrics Framework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METRICS TIED TO BUSINESS IMPACT  ·  notebooks/03_eda.ipynb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4096512" cy="190195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18836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sum(is_canceled) / count(bookings)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6576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measure of revenue leakage — the core problem metric. Every policy decision flows from reducing this number.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1078992"/>
            <a:ext cx="4096512" cy="190195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088136"/>
            <a:ext cx="50292" cy="18836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2896" y="1490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€33.9M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82896" y="19751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total_nights × ADR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82896" y="2240280"/>
            <a:ext cx="36576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22860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financial value of all confirmed stays. Underpins dynamic pricing strategy and revenue forecasting.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108960"/>
            <a:ext cx="4096512" cy="190195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118104"/>
            <a:ext cx="50292" cy="18836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Guest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€197.4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005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 / total_guests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270248"/>
            <a:ext cx="36576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159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profitability across demographic segments. Family guests (€180) vs Non-Family (€199) reveal pricing opportunity.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3108960"/>
            <a:ext cx="4096512" cy="1901952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118104"/>
            <a:ext cx="50292" cy="18836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Proxy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882896" y="4005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 × (1 − is_canceled)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82896" y="4270248"/>
            <a:ext cx="36576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43159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phantom revenue from cancelled bookings. Shows the true realized economic value per booking.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Exploratory Data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BUSINESS-CRITICAL FINDINGS FROM 87,219 BOOKINGS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2724912" cy="1883664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2724912" cy="502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" y="15727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Volatility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18379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vs 27%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12140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 suffer a 41% cancellation rate vs Resort Hotels at 27% — a 14-point gap demanding differentiated policies for each property type.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1078992"/>
            <a:ext cx="2724912" cy="1883664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78992"/>
            <a:ext cx="2724912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5727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Demand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18379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180 Days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2140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made more than 180 days in advance cancel at a disproportionately high rate — speculative placeholders, not committed revenue.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9904" y="1078992"/>
            <a:ext cx="2724912" cy="1883664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1078992"/>
            <a:ext cx="2724912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54496" y="15727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Effect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54496" y="183794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 Cancel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2121408"/>
            <a:ext cx="2395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Deposit" bookings account for nearly all cancellations. Non-Refundable deposits are proven to virtually eliminate cancellation risk.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3108960"/>
            <a:ext cx="3017520" cy="1883664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3108960"/>
            <a:ext cx="3017520" cy="502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1581912" y="32369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81912" y="360273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81912" y="38679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= 35.4%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81912" y="4151376"/>
            <a:ext cx="2688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TA/TO channels cancel far more often than direct hotel bookings, compounding commission costs with unpredictable revenue leakage.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108960"/>
            <a:ext cx="3017520" cy="1883664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108960"/>
            <a:ext cx="301752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2369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73752" y="360273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Cost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73752" y="38679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4151376"/>
            <a:ext cx="2688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peak drives highest ADR (€106.02 avg) and booking volume — making cancellations during this window the most financially damaging.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 ·  RISK COMPOUND PROFILING  ·  scipy · pandas · seaborn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4133088" cy="370332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36850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3822192" cy="658368"/>
          </a:xfrm>
          <a:prstGeom prst="rect">
            <a:avLst/>
          </a:prstGeom>
          <a:solidFill>
            <a:srgbClr val="1A1A00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647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26464" y="17647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lead time between cancelled and fulfilled bookings.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3822192" cy="777240"/>
          </a:xfrm>
          <a:prstGeom prst="rect">
            <a:avLst/>
          </a:prstGeom>
          <a:solidFill>
            <a:srgbClr val="0A1F0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H₀ Rejected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0.001  →  99.9% statistical 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 have significantly higher mean lead times.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3822192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401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362102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a statistically proven, actionable lever — justifying deposit policy mandates for long-lead bookings with hard data confidence.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  ·  pandas · scipy.stats · seaborn · matplotlib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33088" cy="370332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88136"/>
            <a:ext cx="50292" cy="36850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COMPOUND ANALYSIS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High-Risk Profile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segmentation identified the exact booking profile to target: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029968"/>
            <a:ext cx="3794760" cy="457200"/>
          </a:xfrm>
          <a:prstGeom prst="rect">
            <a:avLst/>
          </a:prstGeom>
          <a:solidFill>
            <a:srgbClr val="181818"/>
          </a:solidFill>
          <a:ln w="889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075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 City Hotel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560320"/>
            <a:ext cx="3794760" cy="457200"/>
          </a:xfrm>
          <a:prstGeom prst="rect">
            <a:avLst/>
          </a:prstGeom>
          <a:solidFill>
            <a:srgbClr val="181818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606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No Deposit Policy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090672"/>
            <a:ext cx="3794760" cy="457200"/>
          </a:xfrm>
          <a:prstGeom prst="rect">
            <a:avLst/>
          </a:prstGeom>
          <a:solidFill>
            <a:srgbClr val="181818"/>
          </a:solidFill>
          <a:ln w="889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136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TA/TO (OTA) Channel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621024"/>
            <a:ext cx="3794760" cy="457200"/>
          </a:xfrm>
          <a:prstGeom prst="rect">
            <a:avLst/>
          </a:prstGeom>
          <a:solidFill>
            <a:srgbClr val="181818"/>
          </a:solidFill>
          <a:ln w="889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667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Lead Time &gt; 180 Days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224528"/>
            <a:ext cx="3794760" cy="402336"/>
          </a:xfrm>
          <a:prstGeom prst="rect">
            <a:avLst/>
          </a:prstGeom>
          <a:solidFill>
            <a:srgbClr val="16A34A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428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Laser-Focused Policy Target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Walkthrough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ANALYTICS  ·  EXECUTIVE OVERVIEW + OPERATIONAL DRILL-DOWN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4096512" cy="370332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36850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078992"/>
            <a:ext cx="4096512" cy="384048"/>
          </a:xfrm>
          <a:prstGeom prst="rect">
            <a:avLst/>
          </a:prstGeom>
          <a:solidFill>
            <a:srgbClr val="0A201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8775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CEO / General Manager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" y="1572768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6276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Revenue · Cancel Rate · Bookings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18745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tiles visible at-a-glance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" y="2322576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377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Revenue Trend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26243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 peak clearly visible (€6.97M peak)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" y="3072384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1272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ADR by Price Tier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3374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(€4.3M) → Standard → Economy → Budget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" y="3822192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8770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Cancellation by Market Segment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412394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highest at 35.4%, Corporate lowest at 12.1%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2064" y="4590288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.../soumen.dass/viz/StayWise-new1/StayWise-1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81728" y="1078992"/>
            <a:ext cx="4096512" cy="370332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1088136"/>
            <a:ext cx="50292" cy="36850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81728" y="1078992"/>
            <a:ext cx="4096512" cy="384048"/>
          </a:xfrm>
          <a:prstGeom prst="rect">
            <a:avLst/>
          </a:prstGeom>
          <a:solidFill>
            <a:srgbClr val="1A1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VIEW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22008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Revenue Analyst / Manager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572768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6276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Lead Time vs Cancellation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18745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rises sharply beyond 180-day lead time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2322576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377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Segment Revenue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56048" y="26243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Non-Family (€199) vs Family (€180) revenue per guest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1272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 Segment Filter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3374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 updates Risk Profile Matrix in real-time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3822192"/>
            <a:ext cx="3639312" cy="658368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8770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Booking Volume Heatmap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412394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under-priced high-demand date clusters instantly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4590288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.../soumen.dass/viz/StayWise-new2/StayWise-2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DATA-DRIVEN ACTIONS TO RECOVER REVENUE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8449056" cy="12070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530352" cy="1207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78992"/>
            <a:ext cx="530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170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Deposit Policies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499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&gt; 180 days + No Deposit = Massive Cancellations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0" y="1499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non-refundable deposits for all bookings made more than 180 days in advance.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09360" y="1499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early cash flow and converts speculative placeholders into committed, protected revenue.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414016"/>
            <a:ext cx="8449056" cy="12070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414016"/>
            <a:ext cx="530352" cy="1207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414016"/>
            <a:ext cx="530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25054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Direct" Loyalty Program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2834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5840" y="3026664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bookings rarely cancel and save 15–25% in OTA commissions per booking.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2834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0" y="3026664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exclusive perks (free breakfast, parking, room upgrades) for direct web or phone bookings only.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9360" y="3026664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OTA commission savings straight to net profit while simultaneously reducing cancellation rates.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749040"/>
            <a:ext cx="8449056" cy="12070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749040"/>
            <a:ext cx="530352" cy="120700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749040"/>
            <a:ext cx="5303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Peak-Season Pricing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" y="4169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05840" y="436168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July/August = highest volume + highest ADR. Cancellations here are the most costly.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0" y="4169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0" y="436168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30-day non-refundable cancellation windows and rate premiums during peak summer months.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4169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09360" y="436168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highest-value inventory from last-minute vacancy and revenue erosion at peak demand.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Business Value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UPSIDE OF ACTING ON THESE INSIGHTS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2724912" cy="310896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2724912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887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226771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2304288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5511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No-Deposit long-lead bookings converted to Non-Refundable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" y="3072384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millions in top-line room revenue and eliminates last-minute vacancy scramble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078992"/>
            <a:ext cx="2724912" cy="310896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078992"/>
            <a:ext cx="2724912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11887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18688" y="16916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18688" y="226771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Shift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19856" y="2505456"/>
            <a:ext cx="2304288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5511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shifted from OTA to Direct channels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072384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commission savings drop straight to net profit — zero additional overhead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9904" y="1078992"/>
            <a:ext cx="2724912" cy="310896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1078992"/>
            <a:ext cx="2724912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6089904" y="11887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89904" y="16916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Inaction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291072" y="2505456"/>
            <a:ext cx="2304288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25511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OTA dominance &amp; speculative booking behavior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3072384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continued RevPAR erosion, unpredictable staffing &amp; margin compression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4315968"/>
            <a:ext cx="8449056" cy="822960"/>
          </a:xfrm>
          <a:prstGeom prst="rect">
            <a:avLst/>
          </a:prstGeom>
          <a:solidFill>
            <a:srgbClr val="181818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325112"/>
            <a:ext cx="50292" cy="8046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70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"SO WHAT?"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theoretical gains. Using existing booking data and zero new technology, these three interventions can meaningfully shift cancellation rate, commission burden, and peak-season revenue — within a single quarter of rollout.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  ·  ROADMAP TO REAL-TIME PREDICTION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8138160" cy="1645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078992"/>
            <a:ext cx="4133088" cy="320040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88136"/>
            <a:ext cx="50292" cy="318211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444752"/>
            <a:ext cx="3822192" cy="804672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9961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Pre-Pandemic Scope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175564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spans 2015–2017 — misses COVID-19 effects, remote work "bleisure" travel, and post-pandemic booking behavior.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3822192" cy="804672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323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Competitive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268833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competitor pricing, local event calendars, or macroeconomic indicators that influence demand patterns.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3822192" cy="804672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6499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Static Retrospective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3621024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backward-looking. No real-time feed means the dashboard reflects history, not the current booking window.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133088" cy="3200400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88136"/>
            <a:ext cx="50292" cy="318211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18888" y="1444752"/>
            <a:ext cx="3822192" cy="12344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996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ML: Cancellation Probability Score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801368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Random Forest / XGBoost classifier assigning a real-time cancel probability at checkout — triggering dynamic deposit rules automatically without manual review.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18888" y="2862072"/>
            <a:ext cx="3822192" cy="123444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1693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 Integration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218688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Tableau to a live PMS (Property Management System) API feed for real-time KPI tracking, anomaly alerts, and daily revenue optimization.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4407408"/>
            <a:ext cx="8449056" cy="713232"/>
          </a:xfrm>
          <a:prstGeom prst="rect">
            <a:avLst/>
          </a:prstGeom>
          <a:solidFill>
            <a:srgbClr val="181818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462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ROADMAP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626864"/>
            <a:ext cx="1920240" cy="420624"/>
          </a:xfrm>
          <a:prstGeom prst="rect">
            <a:avLst/>
          </a:prstGeom>
          <a:solidFill>
            <a:srgbClr val="111111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65429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Expand dataset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(post-COVID era)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06040" y="4626864"/>
            <a:ext cx="1920240" cy="420624"/>
          </a:xfrm>
          <a:prstGeom prst="rect">
            <a:avLst/>
          </a:prstGeom>
          <a:solidFill>
            <a:srgbClr val="111111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465429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Build ML cancel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4626864"/>
            <a:ext cx="1920240" cy="420624"/>
          </a:xfrm>
          <a:prstGeom prst="rect">
            <a:avLst/>
          </a:prstGeom>
          <a:solidFill>
            <a:srgbClr val="111111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465429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 Live PMS API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4626864"/>
            <a:ext cx="1920240" cy="420624"/>
          </a:xfrm>
          <a:prstGeom prst="rect">
            <a:avLst/>
          </a:prstGeom>
          <a:solidFill>
            <a:srgbClr val="111111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465429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 Automated pricing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2801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B, GROUP G-1  ·  NEWTON SCHOOL OF TECHNOLOGY  ·  STAYWISE ANALYTICS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1344168"/>
            <a:ext cx="9144000" cy="16459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481328"/>
            <a:ext cx="2048256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81328"/>
            <a:ext cx="2048256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5727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19842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Mishra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2505456"/>
            <a:ext cx="1682496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54203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 ·  PPT &amp; Viva Prep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32304" y="1481328"/>
            <a:ext cx="2048256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2304" y="1481328"/>
            <a:ext cx="2048256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2432304" y="15727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23744" y="19842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 Raghuwanshi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23744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15184" y="2505456"/>
            <a:ext cx="1682496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254203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Sourcing  ·  Data Strategy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08576" y="1481328"/>
            <a:ext cx="2048256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481328"/>
            <a:ext cx="2048256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4608576" y="15727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0016" y="19842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Musthyala Sadhvik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0016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Lead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91456" y="2505456"/>
            <a:ext cx="1682496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0016" y="254203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 ·  Data Cleaning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84848" y="1481328"/>
            <a:ext cx="2048256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4848" y="1481328"/>
            <a:ext cx="2048256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15727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76288" y="198424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Dev Sahu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76288" y="22677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Lead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67728" y="2505456"/>
            <a:ext cx="1682496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4" name="Text 32"/>
          <p:cNvSpPr/>
          <p:nvPr/>
        </p:nvSpPr>
        <p:spPr>
          <a:xfrm>
            <a:off x="6876288" y="254203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Analysis  ·  Hypothesis Testing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17320" y="3291840"/>
            <a:ext cx="2194560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3291840"/>
            <a:ext cx="219456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7" name="Text 35"/>
          <p:cNvSpPr/>
          <p:nvPr/>
        </p:nvSpPr>
        <p:spPr>
          <a:xfrm>
            <a:off x="141732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5087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Soumen Dass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08760" y="4078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Lead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00200" y="4315968"/>
            <a:ext cx="1828800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1" name="Text 39"/>
          <p:cNvSpPr/>
          <p:nvPr/>
        </p:nvSpPr>
        <p:spPr>
          <a:xfrm>
            <a:off x="1508760" y="43525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  ·  KPI Analysis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94760" y="3291840"/>
            <a:ext cx="2194560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94760" y="3291840"/>
            <a:ext cx="21945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379476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8862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Mishra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86200" y="4078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Lead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77640" y="4315968"/>
            <a:ext cx="1828800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8" name="Text 46"/>
          <p:cNvSpPr/>
          <p:nvPr/>
        </p:nvSpPr>
        <p:spPr>
          <a:xfrm>
            <a:off x="3886200" y="43525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 ·  Recommendations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72200" y="3291840"/>
            <a:ext cx="2194560" cy="1664208"/>
          </a:xfrm>
          <a:prstGeom prst="rect">
            <a:avLst/>
          </a:prstGeom>
          <a:solidFill>
            <a:srgbClr val="111111"/>
          </a:solidFill>
          <a:ln w="7620">
            <a:solidFill>
              <a:srgbClr val="2A2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291840"/>
            <a:ext cx="219456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26364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Yadav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4078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Lead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55080" y="4315968"/>
            <a:ext cx="1828800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5" name="Text 53"/>
          <p:cNvSpPr/>
          <p:nvPr/>
        </p:nvSpPr>
        <p:spPr>
          <a:xfrm>
            <a:off x="6263640" y="43525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&amp; Viva Prep  ·  Quality Assurance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5047488"/>
            <a:ext cx="9144000" cy="3200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7" name="Text 55"/>
          <p:cNvSpPr/>
          <p:nvPr/>
        </p:nvSpPr>
        <p:spPr>
          <a:xfrm>
            <a:off x="0" y="49194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github.com/ganga-300/SectionB_G-1_StayWise  ·  Capstone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StayWise — Hotel Booking Analytics</dc:title>
  <dc:subject>PptxGenJS Presentation</dc:subject>
  <dc:creator>Section B, Group G-1</dc:creator>
  <cp:lastModifiedBy>Section B, Group G-1</cp:lastModifiedBy>
  <cp:revision>1</cp:revision>
  <dcterms:created xsi:type="dcterms:W3CDTF">2026-04-29T03:28:15Z</dcterms:created>
  <dcterms:modified xsi:type="dcterms:W3CDTF">2026-04-29T03:28:15Z</dcterms:modified>
</cp:coreProperties>
</file>